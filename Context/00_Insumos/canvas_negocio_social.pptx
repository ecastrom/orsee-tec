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gar Orlando Castro Méndez" userId="8d0fb3cc-d41a-4dc4-b2cd-742c44b8dbe5" providerId="ADAL" clId="{B70113BE-579C-48DA-9465-6B1EF2A398B3}"/>
    <pc:docChg chg="modSld">
      <pc:chgData name="Edgar Orlando Castro Méndez" userId="8d0fb3cc-d41a-4dc4-b2cd-742c44b8dbe5" providerId="ADAL" clId="{B70113BE-579C-48DA-9465-6B1EF2A398B3}" dt="2026-04-08T00:51:59.126" v="12" actId="6549"/>
      <pc:docMkLst>
        <pc:docMk/>
      </pc:docMkLst>
      <pc:sldChg chg="modSp mod">
        <pc:chgData name="Edgar Orlando Castro Méndez" userId="8d0fb3cc-d41a-4dc4-b2cd-742c44b8dbe5" providerId="ADAL" clId="{B70113BE-579C-48DA-9465-6B1EF2A398B3}" dt="2026-04-08T00:51:59.126" v="12" actId="6549"/>
        <pc:sldMkLst>
          <pc:docMk/>
          <pc:sldMk cId="0" sldId="256"/>
        </pc:sldMkLst>
        <pc:spChg chg="mod">
          <ac:chgData name="Edgar Orlando Castro Méndez" userId="8d0fb3cc-d41a-4dc4-b2cd-742c44b8dbe5" providerId="ADAL" clId="{B70113BE-579C-48DA-9465-6B1EF2A398B3}" dt="2026-04-08T00:51:11.822" v="0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Edgar Orlando Castro Méndez" userId="8d0fb3cc-d41a-4dc4-b2cd-742c44b8dbe5" providerId="ADAL" clId="{B70113BE-579C-48DA-9465-6B1EF2A398B3}" dt="2026-04-08T00:51:11.822" v="0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Edgar Orlando Castro Méndez" userId="8d0fb3cc-d41a-4dc4-b2cd-742c44b8dbe5" providerId="ADAL" clId="{B70113BE-579C-48DA-9465-6B1EF2A398B3}" dt="2026-04-08T00:51:11.822" v="0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Edgar Orlando Castro Méndez" userId="8d0fb3cc-d41a-4dc4-b2cd-742c44b8dbe5" providerId="ADAL" clId="{B70113BE-579C-48DA-9465-6B1EF2A398B3}" dt="2026-04-08T00:51:18.611" v="1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Edgar Orlando Castro Méndez" userId="8d0fb3cc-d41a-4dc4-b2cd-742c44b8dbe5" providerId="ADAL" clId="{B70113BE-579C-48DA-9465-6B1EF2A398B3}" dt="2026-04-08T00:51:38.260" v="6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Edgar Orlando Castro Méndez" userId="8d0fb3cc-d41a-4dc4-b2cd-742c44b8dbe5" providerId="ADAL" clId="{B70113BE-579C-48DA-9465-6B1EF2A398B3}" dt="2026-04-08T00:51:43.793" v="7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Edgar Orlando Castro Méndez" userId="8d0fb3cc-d41a-4dc4-b2cd-742c44b8dbe5" providerId="ADAL" clId="{B70113BE-579C-48DA-9465-6B1EF2A398B3}" dt="2026-04-08T00:51:59.126" v="12" actId="6549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000" y="144000"/>
            <a:ext cx="108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Calibri"/>
              </a:defRPr>
            </a:pPr>
            <a:r>
              <a:t>CANVAS DE MODELOS DE NEGOCIO SOCIAL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648000"/>
            <a:ext cx="8435631" cy="126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6000" y="648000"/>
            <a:ext cx="8435631" cy="324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4000" y="684000"/>
            <a:ext cx="88236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44000"/>
            <a:ext cx="8234063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Crear el Behavioral and Experimental Economics Research Lab (BEER Lab)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 en el Tecnológico de Monterrey, Campus Monterrey, para integrar metodologías experimentales en la formación de estudiantes de economía y fortalecer la conexión entre teoría y práctica mediante experimentos controlados.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59631" y="648000"/>
            <a:ext cx="6144369" cy="126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59631" y="648000"/>
            <a:ext cx="6144369" cy="324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9600" y="684000"/>
            <a:ext cx="602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IMPACTO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7600" y="1044000"/>
            <a:ext cx="60264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 dirty="0" err="1">
                <a:solidFill>
                  <a:srgbClr val="444444"/>
                </a:solidFill>
                <a:latin typeface="Calibri"/>
              </a:rPr>
              <a:t>Educativo</a:t>
            </a:r>
            <a:r>
              <a:rPr sz="1100" b="1" dirty="0">
                <a:solidFill>
                  <a:srgbClr val="444444"/>
                </a:solidFill>
                <a:latin typeface="Calibri"/>
              </a:rPr>
              <a:t>: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Aprendizaje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vivencial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teoría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juegos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sesgos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conductuales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diseño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mecanismos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100" b="1" dirty="0" err="1">
                <a:solidFill>
                  <a:srgbClr val="444444"/>
                </a:solidFill>
                <a:latin typeface="Calibri"/>
              </a:rPr>
              <a:t>Institucional</a:t>
            </a:r>
            <a:r>
              <a:rPr sz="1100" b="1" dirty="0">
                <a:solidFill>
                  <a:srgbClr val="444444"/>
                </a:solidFill>
                <a:latin typeface="Calibri"/>
              </a:rPr>
              <a:t>:</a:t>
            </a:r>
            <a:r>
              <a:rPr lang="es-CO" sz="1100" b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Posicionamiento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referente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regional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economía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experimental.</a:t>
            </a:r>
          </a:p>
          <a:p>
            <a:pPr algn="l">
              <a:spcAft>
                <a:spcPts val="300"/>
              </a:spcAft>
            </a:pPr>
            <a:r>
              <a:rPr sz="1100" b="1" dirty="0" err="1">
                <a:solidFill>
                  <a:srgbClr val="444444"/>
                </a:solidFill>
                <a:latin typeface="Calibri"/>
              </a:rPr>
              <a:t>Métricas</a:t>
            </a:r>
            <a:r>
              <a:rPr sz="1100" b="1" dirty="0">
                <a:solidFill>
                  <a:srgbClr val="444444"/>
                </a:solidFill>
                <a:latin typeface="Calibri"/>
              </a:rPr>
              <a:t>: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Sesiones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integradas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UF,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estudiantes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participantes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/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semestre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publicaciones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44444"/>
                </a:solidFill>
                <a:latin typeface="Calibri"/>
              </a:rPr>
              <a:t>derivadas</a:t>
            </a:r>
            <a:r>
              <a:rPr sz="1100" b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2016000"/>
            <a:ext cx="2851200" cy="558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6000" y="2016000"/>
            <a:ext cx="2851200" cy="324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000" y="2052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2412000"/>
            <a:ext cx="2635200" cy="511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Los estudiantes aprenden conceptos como interacción estratégica y sesgos conductuales de forma exclusivamente teórica.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La infraestructura actual (terminales sin procesamiento local, sin aislamiento visual, sin software experimental) impide realizar sesiones experimentales válidas.</a:t>
            </a:r>
          </a:p>
          <a:p>
            <a:pPr algn="l">
              <a:spcAft>
                <a:spcPts val="300"/>
              </a:spcAft>
            </a:pPr>
            <a:endParaRPr sz="1100" b="0">
              <a:solidFill>
                <a:srgbClr val="444444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ALTERNATIVAS EXISTENTES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---------------------------------------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Labs de ciencias conductuales del Tec (cámaras Gesell), pero no diseñados para docencia experimental con interacción simultánea.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Labs en universidades líderes (U. Chicago, UCSD, U. Zúrich).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5200" y="2016000"/>
            <a:ext cx="2851200" cy="270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75200" y="2016000"/>
            <a:ext cx="2851200" cy="324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3200" y="2052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SOLUCIÓN Y ACTIVIDADES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3200" y="2412000"/>
            <a:ext cx="2635200" cy="22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Adecuar sala en Aulas VI: reemplazar 20 terminales por 30 PCs de escritorio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Instalar divisiones removibles entre estaciones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Equipar con cámaras y auriculares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Implementar oTree / z-Tree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Integrar sesiones experimentales en UFs de economía conductual, teoría de juegos y economía aplicada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Banco de participantes con ORSEE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5200" y="4824000"/>
            <a:ext cx="2851200" cy="2772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5200" y="4824000"/>
            <a:ext cx="2851200" cy="324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83200" y="4860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RECURSOS, SOCIOS Y ACTORES CLAVE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3200" y="5220000"/>
            <a:ext cx="2635200" cy="230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Recursos: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30 PCs, divisiones, servidor ORSEE, cámaras, auriculares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Socios: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Depto. Economía, DTI, administración del campus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Actores: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E. Castro, S. Maldonado, estudiantes asistentes de lab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Inversión: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$594k–$844k MXN (fijo) + $287k–$363k MXN (móvil)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4400" y="2016000"/>
            <a:ext cx="2851200" cy="558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34400" y="2016000"/>
            <a:ext cx="2851200" cy="324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2400" y="2052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PROPUESTA DE VALOR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2400" y="2412000"/>
            <a:ext cx="2635200" cy="511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PROPUESTA DE VALOR SOCIAL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Modernizar la enseñanza de economía con herramientas pedagógicas de frontera. Formar profesionistas con habilidades en diseño experimental y análisis de datos. Generar know-how institucional en economía experimental.</a:t>
            </a:r>
          </a:p>
          <a:p>
            <a:pPr algn="l">
              <a:spcAft>
                <a:spcPts val="300"/>
              </a:spcAft>
            </a:pPr>
            <a:endParaRPr sz="1100" b="0">
              <a:solidFill>
                <a:srgbClr val="444444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---------------------------------------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PROPUESTA DE VALOR AL CLIENTE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Experiencia de aprendizaje diferenciada: participación activa en experimentos y comprensión vivencial de conceptos. Empresas acceden a consultoría en economía conductual (incentivos, nudges, precios) vía Expedition.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3600" y="2016000"/>
            <a:ext cx="2851200" cy="270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3600" y="2016000"/>
            <a:ext cx="2851200" cy="324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01600" y="2052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VENTAJA DIFERENCIAL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1600" y="2412000"/>
            <a:ext cx="2635200" cy="22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• Primer laboratorio dedicado a docencia experimental en economía en el Tec y la región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Integración sistemática en el currículo (no solo investigación)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Sesiones híbridas + laboratorio móvil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Vinculación directa entre formación académica y problemas reales del sector empresarial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3600" y="4824000"/>
            <a:ext cx="2851200" cy="2772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93600" y="4824000"/>
            <a:ext cx="2851200" cy="324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1600" y="4860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CANALES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600" y="5220000"/>
            <a:ext cx="2635200" cy="230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Unidades de formación del Depto. de Economía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ORSEE: reclutamiento y comunicación con participantes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Expedition: vinculación empresarial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Laboratorio móvil para otros espacios y sedes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Colaboración con otros departamentos e investigadores externos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52800" y="2016000"/>
            <a:ext cx="2851200" cy="558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2052800" y="2016000"/>
            <a:ext cx="2851200" cy="3240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160800" y="2052000"/>
            <a:ext cx="26352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SEGMENTOS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0800" y="2412000"/>
            <a:ext cx="2635200" cy="511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CLIENTE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Tecnológico de Monterrey (inversión institucional)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Empresas de la región (consultoría en economía conductual vía Expedition)</a:t>
            </a:r>
          </a:p>
          <a:p>
            <a:pPr algn="l">
              <a:spcAft>
                <a:spcPts val="300"/>
              </a:spcAft>
            </a:pPr>
            <a:endParaRPr sz="1100" b="0">
              <a:solidFill>
                <a:srgbClr val="444444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---------------------------------------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BENEFICIARIO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Estudiantes de economía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Profesores del Depto. de Economía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Investigadores internos y externos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• Empresas que implementan soluciones conductuales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7704000"/>
            <a:ext cx="5499360" cy="2772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6000" y="7704000"/>
            <a:ext cx="5499360" cy="324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4000" y="7740000"/>
            <a:ext cx="528336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ESTRUCTURA DE COSTES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000" y="8100000"/>
            <a:ext cx="5283360" cy="230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Lab fijo: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$594k–$844k MXN (30 PCs, divisiones, cámaras/auriculares, servidor ORSEE, equipo experimentador)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Lab móvil: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$287k–$363k MXN (tablets/laptops, mesas, sillas, router)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Operación: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Incentivos monetarios, mantenimiento, soporte técnico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23360" y="7704000"/>
            <a:ext cx="3473279" cy="2772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823360" y="7704000"/>
            <a:ext cx="3473279" cy="324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31360" y="7740000"/>
            <a:ext cx="325727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SURPLUS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31360" y="8100000"/>
            <a:ext cx="3257279" cy="230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Reinversión de ingresos de consultoría en mantenimiento y ampliación del laboratorio.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Becas de investigación para estudiantes asistentes.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Desarrollo de formación ejecutiva en economía conductual.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04640" y="7704000"/>
            <a:ext cx="5499360" cy="277200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404640" y="7704000"/>
            <a:ext cx="5499360" cy="3240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12640" y="7740000"/>
            <a:ext cx="528336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INGRESOS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12640" y="8100000"/>
            <a:ext cx="5283360" cy="230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Inversión institucional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(100% inicial): presupuesto Tec para infraestructura docente.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44444"/>
                </a:solidFill>
                <a:latin typeface="Calibri"/>
              </a:rPr>
              <a:t>Mediano plazo: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Consultoría empresarial vía Expedition (diseño de incentivos, nudges, precios). Fondos externos de investigación y formación ejecutiva.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620</Words>
  <Application>Microsoft Office PowerPoint</Application>
  <PresentationFormat>Custom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Edgar Castro</cp:lastModifiedBy>
  <cp:revision>1</cp:revision>
  <dcterms:created xsi:type="dcterms:W3CDTF">2013-01-27T09:14:16Z</dcterms:created>
  <dcterms:modified xsi:type="dcterms:W3CDTF">2026-04-08T00:52:08Z</dcterms:modified>
  <cp:category/>
</cp:coreProperties>
</file>